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128016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320040"/>
            <a:ext cx="914400" cy="9144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4200" b="1">
                <a:solidFill>
                  <a:srgbClr val="1A1A1A"/>
                </a:solidFill>
                <a:latin typeface="Aptos Display"/>
              </a:defRPr>
            </a:pPr>
            <a:r>
              <a:t>ai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106984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200" b="0">
                <a:solidFill>
                  <a:srgbClr val="5F6368"/>
                </a:solidFill>
                <a:latin typeface="Calibri"/>
              </a:defRPr>
            </a:pPr>
            <a:r>
              <a:t>A Bright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128016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320040"/>
            <a:ext cx="914400" cy="9144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ptos Display"/>
              </a:defRPr>
            </a:pPr>
            <a:r>
              <a:t>What is ai 6?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4241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  <a:defRPr sz="1900">
                <a:solidFill>
                  <a:srgbClr val="1A1A1A"/>
                </a:solidFill>
                <a:latin typeface="Calibri"/>
              </a:defRPr>
            </a:pPr>
            <a:r>
              <a:t>ai 6 is a natural or conceptual system with measurable patterns.</a:t>
            </a:r>
          </a:p>
          <a:p>
            <a:pPr algn="l">
              <a:spcAft>
                <a:spcPts val="1200"/>
              </a:spcAft>
              <a:defRPr sz="1900">
                <a:solidFill>
                  <a:srgbClr val="1A1A1A"/>
                </a:solidFill>
                <a:latin typeface="Calibri"/>
              </a:defRPr>
            </a:pPr>
            <a:r>
              <a:t>It can be explained through causes, behavior, and outcomes.</a:t>
            </a:r>
          </a:p>
          <a:p>
            <a:pPr algn="l">
              <a:spcAft>
                <a:spcPts val="1200"/>
              </a:spcAft>
              <a:defRPr sz="1900">
                <a:solidFill>
                  <a:srgbClr val="1A1A1A"/>
                </a:solidFill>
                <a:latin typeface="Calibri"/>
              </a:defRPr>
            </a:pPr>
            <a:r>
              <a:t>Understanding the fundamentals builds confidence for deeper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128016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320040"/>
            <a:ext cx="914400" cy="9144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ptos Display"/>
              </a:defRPr>
            </a:pPr>
            <a:r>
              <a:t>How ai 6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101498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  <a:defRPr sz="1900">
                <a:solidFill>
                  <a:srgbClr val="1A1A1A"/>
                </a:solidFill>
                <a:latin typeface="Calibri"/>
              </a:defRPr>
            </a:pPr>
            <a:r>
              <a:t>ai 6 follows a sequence of inputs, transitions, and outputs.</a:t>
            </a:r>
          </a:p>
          <a:p>
            <a:pPr algn="l">
              <a:spcAft>
                <a:spcPts val="1200"/>
              </a:spcAft>
              <a:defRPr sz="1900">
                <a:solidFill>
                  <a:srgbClr val="1A1A1A"/>
                </a:solidFill>
                <a:latin typeface="Calibri"/>
              </a:defRPr>
            </a:pPr>
            <a:r>
              <a:t>External factors shape the speed and quality of each stage.</a:t>
            </a:r>
          </a:p>
          <a:p>
            <a:pPr algn="l">
              <a:spcAft>
                <a:spcPts val="1200"/>
              </a:spcAft>
              <a:defRPr sz="1900">
                <a:solidFill>
                  <a:srgbClr val="1A1A1A"/>
                </a:solidFill>
                <a:latin typeface="Calibri"/>
              </a:defRPr>
            </a:pPr>
            <a:r>
              <a:t>Monitoring change over time helps reveal reliable trends.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128016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320040"/>
            <a:ext cx="914400" cy="9144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ptos Display"/>
              </a:defRPr>
            </a:pPr>
            <a:r>
              <a:t>Why ai 6 Matters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10424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0077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10424160" cy="1828800"/>
          </a:xfrm>
          <a:prstGeom prst="rect">
            <a:avLst/>
          </a:prstGeom>
          <a:noFill/>
        </p:spPr>
        <p:txBody>
          <a:bodyPr wrap="square" lIns="137160" rIns="137160" tIns="137160" bIns="137160">
            <a:spAutoFit/>
          </a:bodyPr>
          <a:lstStyle/>
          <a:p>
            <a:pPr algn="l">
              <a:defRPr sz="2400" b="0">
                <a:solidFill>
                  <a:srgbClr val="1A1A1A"/>
                </a:solidFill>
                <a:latin typeface="Aptos"/>
              </a:defRPr>
            </a:pPr>
            <a:r>
              <a:t>ai 6 is not just a concept. It is a practical lens for understanding change, predicting outcomes, and making better decisions.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100584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  <a:defRPr sz="1900">
                <a:solidFill>
                  <a:srgbClr val="1A1A1A"/>
                </a:solidFill>
                <a:latin typeface="Calibri"/>
              </a:defRPr>
            </a:pPr>
            <a:r>
              <a:t>ai 6 affects society, environment, and future planning.</a:t>
            </a:r>
          </a:p>
          <a:p>
            <a:pPr algn="l">
              <a:spcAft>
                <a:spcPts val="1200"/>
              </a:spcAft>
              <a:defRPr sz="1900">
                <a:solidFill>
                  <a:srgbClr val="1A1A1A"/>
                </a:solidFill>
                <a:latin typeface="Calibri"/>
              </a:defRPr>
            </a:pPr>
            <a:r>
              <a:t>Better awareness supports smarter personal and policy decisions.</a:t>
            </a:r>
          </a:p>
          <a:p>
            <a:pPr algn="l">
              <a:spcAft>
                <a:spcPts val="1200"/>
              </a:spcAft>
              <a:defRPr sz="1900">
                <a:solidFill>
                  <a:srgbClr val="1A1A1A"/>
                </a:solidFill>
                <a:latin typeface="Calibri"/>
              </a:defRPr>
            </a:pPr>
            <a:r>
              <a:t>Its impact grows when connected with technology and education.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128016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320040"/>
            <a:ext cx="914400" cy="9144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ptos Display"/>
              </a:defRPr>
            </a:pPr>
            <a:r>
              <a:t>Traditional vs Modern View of ai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83080"/>
            <a:ext cx="49377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200" b="1">
                <a:solidFill>
                  <a:srgbClr val="FF7A00"/>
                </a:solidFill>
                <a:latin typeface="Aptos Display"/>
              </a:defRPr>
            </a:pPr>
            <a:r>
              <a:t>Traditional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468880"/>
            <a:ext cx="4937759" cy="33832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  <a:defRPr sz="1900">
                <a:solidFill>
                  <a:srgbClr val="1A1A1A"/>
                </a:solidFill>
                <a:latin typeface="Calibri"/>
              </a:defRPr>
            </a:pPr>
            <a:r>
              <a:t>Observation-led and manually interpreted</a:t>
            </a:r>
          </a:p>
          <a:p>
            <a:pPr algn="l">
              <a:spcAft>
                <a:spcPts val="1200"/>
              </a:spcAft>
              <a:defRPr sz="1900">
                <a:solidFill>
                  <a:srgbClr val="1A1A1A"/>
                </a:solidFill>
                <a:latin typeface="Calibri"/>
              </a:defRPr>
            </a:pPr>
            <a:r>
              <a:t>Limited scale for tracking complex variables</a:t>
            </a:r>
          </a:p>
          <a:p>
            <a:pPr algn="l">
              <a:spcAft>
                <a:spcPts val="1200"/>
              </a:spcAft>
              <a:defRPr sz="1900">
                <a:solidFill>
                  <a:srgbClr val="1A1A1A"/>
                </a:solidFill>
                <a:latin typeface="Calibri"/>
              </a:defRPr>
            </a:pPr>
            <a:r>
              <a:t>Reactive decisions with delayed insight on ai 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49377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200" b="1">
                <a:solidFill>
                  <a:srgbClr val="06D6A0"/>
                </a:solidFill>
                <a:latin typeface="Aptos Display"/>
              </a:defRPr>
            </a:pPr>
            <a:r>
              <a:t>Modern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4937759" cy="33832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  <a:defRPr sz="1900">
                <a:solidFill>
                  <a:srgbClr val="1A1A1A"/>
                </a:solidFill>
                <a:latin typeface="Calibri"/>
              </a:defRPr>
            </a:pPr>
            <a:r>
              <a:t>Data-rich and model-driven interpretation</a:t>
            </a:r>
          </a:p>
          <a:p>
            <a:pPr algn="l">
              <a:spcAft>
                <a:spcPts val="1200"/>
              </a:spcAft>
              <a:defRPr sz="1900">
                <a:solidFill>
                  <a:srgbClr val="1A1A1A"/>
                </a:solidFill>
                <a:latin typeface="Calibri"/>
              </a:defRPr>
            </a:pPr>
            <a:r>
              <a:t>Visual tools for rapid communication</a:t>
            </a:r>
          </a:p>
          <a:p>
            <a:pPr algn="l">
              <a:spcAft>
                <a:spcPts val="1200"/>
              </a:spcAft>
              <a:defRPr sz="1900">
                <a:solidFill>
                  <a:srgbClr val="1A1A1A"/>
                </a:solidFill>
                <a:latin typeface="Calibri"/>
              </a:defRPr>
            </a:pPr>
            <a:r>
              <a:t>Action-focused decisions tied to ai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128016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320040"/>
            <a:ext cx="914400" cy="9144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4241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  <a:defRPr sz="1900">
                <a:solidFill>
                  <a:srgbClr val="1A1A1A"/>
                </a:solidFill>
                <a:latin typeface="Calibri"/>
              </a:defRPr>
            </a:pPr>
            <a:r>
              <a:t>ai 6 is best understood through both facts and context.</a:t>
            </a:r>
          </a:p>
          <a:p>
            <a:pPr algn="l">
              <a:spcAft>
                <a:spcPts val="1200"/>
              </a:spcAft>
              <a:defRPr sz="1900">
                <a:solidFill>
                  <a:srgbClr val="1A1A1A"/>
                </a:solidFill>
                <a:latin typeface="Calibri"/>
              </a:defRPr>
            </a:pPr>
            <a:r>
              <a:t>Clear models and examples make complex ideas accessible.</a:t>
            </a:r>
          </a:p>
          <a:p>
            <a:pPr algn="l">
              <a:spcAft>
                <a:spcPts val="1200"/>
              </a:spcAft>
              <a:defRPr sz="1900">
                <a:solidFill>
                  <a:srgbClr val="1A1A1A"/>
                </a:solidFill>
                <a:latin typeface="Calibri"/>
              </a:defRPr>
            </a:pPr>
            <a:r>
              <a:t>The next step is applying this understanding to real-world cases.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